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640080"/>
            <a:ext cx="2560320" cy="2560320"/>
          </a:xfrm>
          <a:prstGeom prst="round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1828800"/>
            <a:ext cx="1463040" cy="1463040"/>
          </a:xfrm>
          <a:prstGeom prst="round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79" y="3200400"/>
            <a:ext cx="3200400" cy="2011680"/>
          </a:xfrm>
          <a:prstGeom prst="round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795527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t>LOAN APPROVAL</a:t>
            </a:r>
            <a:br/>
            <a:r>
              <a:t>PREDICTION</a:t>
            </a:r>
          </a:p>
          <a:p>
            <a:pPr>
              <a:spcBef>
                <a:spcPts val="1200"/>
              </a:spcBef>
              <a:defRPr sz="1900">
                <a:solidFill>
                  <a:srgbClr val="26A6BE"/>
                </a:solidFill>
              </a:defRPr>
            </a:pPr>
            <a:r>
              <a:t>Decision Tree  •  Naive Bayes  •  KNN</a:t>
            </a:r>
          </a:p>
          <a:p>
            <a:pPr>
              <a:defRPr sz="1500">
                <a:solidFill>
                  <a:srgbClr val="EBF2F8"/>
                </a:solidFill>
              </a:defRPr>
            </a:pPr>
            <a:r>
              <a:t>A data-driven machine learning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BF2F8"/>
                </a:solidFill>
              </a:defRPr>
            </a:pPr>
            <a:r>
              <a:t>BBA / Data Mining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Executive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5146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60020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614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records 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5146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64008" cy="160020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105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after ID removal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234440"/>
            <a:ext cx="25146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34440"/>
            <a:ext cx="64008" cy="160020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APPROVAL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68.73%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68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422 approved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234440"/>
            <a:ext cx="25146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234440"/>
            <a:ext cx="64008" cy="1600200"/>
          </a:xfrm>
          <a:prstGeom prst="rect">
            <a:avLst/>
          </a:prstGeom>
          <a:solidFill>
            <a:srgbClr val="D39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435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BEST 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8105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0.9022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4688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Naive Bayes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3756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Business question: can applicant information be used to predict whether a loan will be approved?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Three classification models were trained on the same stratified 80/20 split.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Naive Bayes produced the highest accuracy, recall and F1-score in this run.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Decision Tree produced fewer false approvals, highlighting that model choice depends on the bank’s risk objective.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Dataset &amp;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834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41732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423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614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loan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234440"/>
            <a:ext cx="283464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234440"/>
            <a:ext cx="64008" cy="141732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43560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810512"/>
            <a:ext cx="2423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4688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including target +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234440"/>
            <a:ext cx="20574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1234440"/>
            <a:ext cx="64008" cy="141732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4356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10512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422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6888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68.73%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234440"/>
            <a:ext cx="20574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34440"/>
            <a:ext cx="64008" cy="1417320"/>
          </a:xfrm>
          <a:prstGeom prst="rect">
            <a:avLst/>
          </a:prstGeom>
          <a:solidFill>
            <a:srgbClr val="B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4356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810512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6888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31.27%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30632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Feature group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Variables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Numeric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ApplicantIncome, CoapplicantIncome, LoanAmount, Loan_Amount_Term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Categorical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Gender, Married, Dependents, Education, Self_Employed, Credit_History, Property_Area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Loan_Status: Y = Approved, N = Rejected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53492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No duplicate rows were found.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Loan_ID was removed because it is an identifier rather than a predictive feature.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Data Preparation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Shape, types,</a:t>
            </a:r>
            <a:br/>
            <a:r>
              <a:t>missing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Remove duplicates</a:t>
            </a:r>
            <a:br/>
            <a:r>
              <a:t>&amp; Loan_ID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Impute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Median numeric /</a:t>
            </a:r>
            <a:br/>
            <a:r>
              <a:t>most-frequent categorical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Encode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One-hot categorical</a:t>
            </a:r>
            <a:br/>
            <a:r>
              <a:t>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Standardize numeric</a:t>
            </a:r>
            <a:br/>
            <a:r>
              <a:t>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508760"/>
            <a:ext cx="16002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169164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A6BE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1488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69748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80/20 stratified</a:t>
            </a:r>
            <a:br/>
            <a:r>
              <a:t>train-test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Missing values were present in Gender, Married, Dependents, Self_Employed, LoanAmount, Loan_Amount_Term and Credit_History.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Preprocessing is inside the model pipeline, so transformations are fitted on training data rather than leaking information from the test set.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Credit_History was treated as a categorical feature after mapping 1.0 → Good and 0.0 → Bad.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The Three “Loan Officers”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3756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337560" cy="13716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B33"/>
                </a:solidFill>
              </a:defRPr>
            </a:pPr>
            <a: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If–then decision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788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max_depth = 4</a:t>
            </a:r>
            <a:br/>
            <a:r>
              <a:t>min_samples_leaf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5B99"/>
                </a:solidFill>
              </a:defRPr>
            </a:pPr>
            <a:r>
              <a:t>Explainable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33756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337560" cy="13716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7830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B33"/>
                </a:solidFill>
              </a:defRPr>
            </a:pPr>
            <a:r>
              <a:t>NAIVE BAYES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68880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Probability-based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383280"/>
            <a:ext cx="2788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GaussianNB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6634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A6BE"/>
                </a:solidFill>
              </a:defRPr>
            </a:pPr>
            <a:r>
              <a:t>Fast &amp; probabilistic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337560" cy="3977639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337560" cy="13716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7830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B33"/>
                </a:solidFill>
              </a:defRPr>
            </a:pPr>
            <a: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68880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Similarity to past applicants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83280"/>
            <a:ext cx="2788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 = 5 neighbours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6634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8060"/>
                </a:solidFill>
              </a:defRPr>
            </a:pPr>
            <a:r>
              <a:t>Distance-based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31089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64008" cy="150876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81328"/>
            <a:ext cx="2697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56231"/>
            <a:ext cx="26974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491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6974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80% of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280160"/>
            <a:ext cx="31089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280160"/>
            <a:ext cx="64008" cy="150876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81328"/>
            <a:ext cx="2697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56231"/>
            <a:ext cx="26974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123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14600"/>
            <a:ext cx="26974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20% of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1089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64008" cy="150876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81328"/>
            <a:ext cx="2697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RANDOM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56231"/>
            <a:ext cx="26974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14600"/>
            <a:ext cx="26974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reproducible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All three models use the same stratified train/test split, making the comparison consistent within this experiment.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Positive class: Loan Approved (Y).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Primary metrics: Accuracy, Precision, Recall and F1-score.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Operational errors are also tracked: FP = risky loan wrongly approved; FN = good applicant wrongly rejected.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80160"/>
          <a:ext cx="1097279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2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FP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FN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82.11%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84.62%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90.59%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87.50%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Naive Bayes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85.37%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83.84%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97.65%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90.22%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KNN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82.93%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81.37%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97.65%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88.77%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7947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13048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813048"/>
            <a:ext cx="1914575" cy="274320"/>
          </a:xfrm>
          <a:prstGeom prst="round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53872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Tree: 0.821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813048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3813048"/>
            <a:ext cx="1990589" cy="274320"/>
          </a:xfrm>
          <a:prstGeom prst="round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53872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NB: 0.854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13048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3813048"/>
            <a:ext cx="1933695" cy="274320"/>
          </a:xfrm>
          <a:prstGeom prst="round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53872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KNN: 0.829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1888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837176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86000" y="4837176"/>
            <a:ext cx="1973101" cy="274320"/>
          </a:xfrm>
          <a:prstGeom prst="round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562856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Tree: 0.846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837176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0" y="4837176"/>
            <a:ext cx="1954914" cy="274320"/>
          </a:xfrm>
          <a:prstGeom prst="round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562856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NB: 0.838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837176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4837176"/>
            <a:ext cx="1897320" cy="274320"/>
          </a:xfrm>
          <a:prstGeom prst="round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562856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KNN: 0.814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4301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Recall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861304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86000" y="5861304"/>
            <a:ext cx="2112305" cy="274320"/>
          </a:xfrm>
          <a:prstGeom prst="round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586984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Tree: 0.906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5861304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0" y="5861304"/>
            <a:ext cx="2276924" cy="274320"/>
          </a:xfrm>
          <a:prstGeom prst="round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586984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NB: 0.977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5861304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5861304"/>
            <a:ext cx="2276924" cy="274320"/>
          </a:xfrm>
          <a:prstGeom prst="round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5586984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KNN: 0.977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86714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F1-score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6885432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86000" y="6885432"/>
            <a:ext cx="2040254" cy="274320"/>
          </a:xfrm>
          <a:prstGeom prst="round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6611112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Tree: 0.875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6885432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12080" y="6885432"/>
            <a:ext cx="2103677" cy="274320"/>
          </a:xfrm>
          <a:prstGeom prst="round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6611112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NB: 0.902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6885432"/>
            <a:ext cx="2331720" cy="2743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8160" y="6885432"/>
            <a:ext cx="2069867" cy="274320"/>
          </a:xfrm>
          <a:prstGeom prst="round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6611112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KNN: 0.888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Where the Models Make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B33"/>
                </a:solidFill>
              </a:defRPr>
            </a:pPr>
            <a:r>
              <a:t>Decision Tree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342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Actual \ Pred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77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977639"/>
            <a:ext cx="64008" cy="1234440"/>
          </a:xfrm>
          <a:prstGeom prst="rect">
            <a:avLst/>
          </a:prstGeom>
          <a:solidFill>
            <a:srgbClr val="B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risky approvals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3977639"/>
            <a:ext cx="64008" cy="1234440"/>
          </a:xfrm>
          <a:prstGeom prst="rect">
            <a:avLst/>
          </a:prstGeom>
          <a:solidFill>
            <a:srgbClr val="D39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good loans missed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234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B33"/>
                </a:solidFill>
              </a:defRPr>
            </a:pPr>
            <a:r>
              <a:t>Naive Bayes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389120" y="1783080"/>
          <a:ext cx="342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Actual \ Pred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977639"/>
            <a:ext cx="64008" cy="1234440"/>
          </a:xfrm>
          <a:prstGeom prst="rect">
            <a:avLst/>
          </a:prstGeom>
          <a:solidFill>
            <a:srgbClr val="B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risky approvals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64008" cy="1234440"/>
          </a:xfrm>
          <a:prstGeom prst="rect">
            <a:avLst/>
          </a:prstGeom>
          <a:solidFill>
            <a:srgbClr val="D39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good loans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234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1B33"/>
                </a:solidFill>
              </a:defRPr>
            </a:pPr>
            <a:r>
              <a:t>KNN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183880" y="1783080"/>
          <a:ext cx="3429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Actual \ Pred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Approved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836676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3977639"/>
            <a:ext cx="64008" cy="1234440"/>
          </a:xfrm>
          <a:prstGeom prst="rect">
            <a:avLst/>
          </a:prstGeom>
          <a:solidFill>
            <a:srgbClr val="B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risky approvals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977639"/>
            <a:ext cx="14630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12680" y="3977639"/>
            <a:ext cx="64008" cy="1234440"/>
          </a:xfrm>
          <a:prstGeom prst="rect">
            <a:avLst/>
          </a:prstGeom>
          <a:solidFill>
            <a:srgbClr val="D39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417880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553712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212079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good loans missed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What the Metrics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Accuracy — overall share of correct predictions.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Precision (Approved) — among predicted approvals, how many were truly approved. Lower precision means more risky approvals.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Recall (Approved) — among truly approved loans, how many the model identified. Higher recall means fewer good applicants are rejected.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F1-score — balances precision and recall for the Approved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515600" cy="9601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0235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1B33"/>
                </a:solidFill>
              </a:defRPr>
            </a:pPr>
            <a:r>
              <a:t>Key trade-off: Decision Tree has the fewest false positives (14), while Naive Bayes and KNN have only 2 false negatives.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Reading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004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64008" cy="150876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3560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ACCURACY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85.37%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2004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64008" cy="150876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43560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PRECISION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810512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6888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84.62%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2004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64008" cy="150876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35608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RECALL LEADER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10512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NB &amp; KNN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97.65%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Naive Bayes also has the highest F1-score: 0.9022.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Decision Tree records 14 false positives, the fewest among the three models.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Naive Bayes and KNN each record 2 false negatives.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The results show why a banking classifier should not be judged on accuracy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Explainability &amp; Business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835637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5829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How it decides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Interpretability in this project</a:t>
                      </a:r>
                    </a:p>
                  </a:txBody>
                  <a:tcPr marL="73152" marR="73152" anchor="ctr">
                    <a:solidFill>
                      <a:srgbClr val="0C1B3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If–then rules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 — rules can be followed and communicated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Naive Bayes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Class probabilities per feature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Moderate — probabilistic reasoning</a:t>
                      </a:r>
                    </a:p>
                  </a:txBody>
                  <a:tcPr marL="73152" marR="73152" anchor="ctr">
                    <a:solidFill>
                      <a:srgbClr val="EBF2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KNN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Similarity to past applicants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Lower — no simple decision rule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06908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Model choice is a business decision as well as a statistical one.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Risk-focused use may place more weight on false approvals; customer-acquisition-focused use may place more weight on false rejections.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These are properties of the algorithms and the observed test results, not guarantees about future applicants.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A6BE"/>
                </a:solidFill>
              </a:defRPr>
            </a:pPr>
            <a:r>
              <a:t>RESULT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Naive Bayes</a:t>
            </a:r>
          </a:p>
          <a:p>
            <a:pPr>
              <a:defRPr sz="1800">
                <a:solidFill>
                  <a:srgbClr val="EBF2F8"/>
                </a:solidFill>
              </a:defRPr>
            </a:pPr>
            <a:r>
              <a:t>Highest F1-score for the Approved class in this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64008" cy="1508760"/>
          </a:xfrm>
          <a:prstGeom prst="rect">
            <a:avLst/>
          </a:prstGeom>
          <a:solidFill>
            <a:srgbClr val="1C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35808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1071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85.37%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2011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834640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834640"/>
            <a:ext cx="64008" cy="1508760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3035808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41071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83.84%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069080"/>
            <a:ext cx="2011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test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2834640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79" y="2834640"/>
            <a:ext cx="64008" cy="1508760"/>
          </a:xfrm>
          <a:prstGeom prst="rect">
            <a:avLst/>
          </a:prstGeom>
          <a:solidFill>
            <a:srgbClr val="26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035808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41071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97.65%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069080"/>
            <a:ext cx="2011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test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834640"/>
            <a:ext cx="242316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3999" y="2834640"/>
            <a:ext cx="64008" cy="1508760"/>
          </a:xfrm>
          <a:prstGeom prst="rect">
            <a:avLst/>
          </a:prstGeom>
          <a:solidFill>
            <a:srgbClr val="D39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3035808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41071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B33"/>
                </a:solidFill>
              </a:defRPr>
            </a:pPr>
            <a:r>
              <a:t>90.22%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4069080"/>
            <a:ext cx="2011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test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Selection rule used in the code: highest Approved-class F1-score, with accuracy as the tie-breaker.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Important nuance: Decision Tree produced fewer false approvals (14 vs. 16), so a bank with a different risk objective could weigh the models differently.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Results come from one train/test split; performance may change with another split.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B33"/>
                </a:solidFill>
              </a:defRPr>
            </a:pPr>
            <a:r>
              <a:t>Limitations &amp; Responsible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5661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Single train/test split: small performance differences can change with another split.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Class imbalance: 68.73% of applications are approved, so accuracy alone can hide differences in rejected-class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False positives and false negatives have different business costs; the preferred threshold/objective should come from the bank’s risk policy.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Model results are predictive patterns in this dataset, not a substitute for credit policy, human review, compliance checks or applicant-specific due diligence.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1042416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687568"/>
            <a:ext cx="9966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1B33"/>
                </a:solidFill>
              </a:defRPr>
            </a:pPr>
            <a:r>
              <a:t>Best practice: validate on additional splits / cross-validation before real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A6B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Machine learning can turn loan applications into measurable, testable predictions.</a:t>
            </a:r>
          </a:p>
          <a:p>
            <a:pPr>
              <a:spcBef>
                <a:spcPts val="1800"/>
              </a:spcBef>
              <a:defRPr sz="1900">
                <a:solidFill>
                  <a:srgbClr val="EBF2F8"/>
                </a:solidFill>
              </a:defRPr>
            </a:pPr>
            <a:r>
              <a:t>In this experiment, Naive Bayes achieved the highest Approved-class F1-score, while Decision Tree minimized false approvals.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614 applications analyzed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3 classification models compared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4 core performance metrics + confusion matrices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Clear trade-off between predictive performance and business error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LOAN APPROVAL PREDICTION  •  MACHINE LEARNING CASE STUDY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C1B33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1C5B99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748B"/>
                </a:solidFill>
              </a:defRPr>
            </a:pPr>
            <a:r>
              <a:t>Loan Approval Prediction • Decision Tree • Naive Bayes • KNN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